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200" b="1">
                <a:solidFill>
                  <a:srgbClr val="404040"/>
                </a:solidFill>
              </a:defRPr>
            </a:pPr>
            <a:r>
              <a:t>Object class thresholding</a:t>
            </a:r>
          </a:p>
        </p:txBody>
      </p:sp>
      <p:pic>
        <p:nvPicPr>
          <p:cNvPr id="3" name="Picture 2" descr="tmp9gsjjtk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855" y="3017520"/>
            <a:ext cx="2875768" cy="1618488"/>
          </a:xfrm>
          <a:prstGeom prst="rect">
            <a:avLst/>
          </a:prstGeom>
        </p:spPr>
      </p:pic>
      <p:pic>
        <p:nvPicPr>
          <p:cNvPr id="4" name="Picture 3" descr="tmph55w7o5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1983" y="3017520"/>
            <a:ext cx="2600553" cy="1618488"/>
          </a:xfrm>
          <a:prstGeom prst="rect">
            <a:avLst/>
          </a:prstGeom>
        </p:spPr>
      </p:pic>
      <p:pic>
        <p:nvPicPr>
          <p:cNvPr id="5" name="Picture 4" descr="tmpgttdvjz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1096" y="4727448"/>
            <a:ext cx="2301287" cy="16184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645920"/>
            <a:ext cx="8229600" cy="118872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404040"/>
                </a:solidFill>
                <a:latin typeface="Calibri"/>
              </a:defRPr>
            </a:pPr>
            <a:r>
              <a:t>• K-means Clustering</a:t>
            </a:r>
          </a:p>
          <a:p>
            <a:pPr algn="l">
              <a:defRPr sz="1600">
                <a:solidFill>
                  <a:srgbClr val="404040"/>
                </a:solidFill>
                <a:latin typeface="Calibri"/>
              </a:defRPr>
            </a:pPr>
            <a:r>
              <a:t>• Morphological operations</a:t>
            </a:r>
          </a:p>
          <a:p>
            <a:pPr algn="l">
              <a:defRPr sz="1600">
                <a:solidFill>
                  <a:srgbClr val="404040"/>
                </a:solidFill>
                <a:latin typeface="Calibri"/>
              </a:defRPr>
            </a:pPr>
            <a:r>
              <a:t>• Thresholding (Otsu Method) K-mean Clustered</a:t>
            </a:r>
          </a:p>
          <a:p>
            <a:pPr algn="l">
              <a:defRPr sz="1600">
                <a:solidFill>
                  <a:srgbClr val="404040"/>
                </a:solidFill>
                <a:latin typeface="Calibri"/>
              </a:defRPr>
            </a:pPr>
            <a:r>
              <a:t>• Morphology operations Morphological</a:t>
            </a:r>
          </a:p>
          <a:p>
            <a:pPr algn="l">
              <a:defRPr sz="1600">
                <a:solidFill>
                  <a:srgbClr val="404040"/>
                </a:solidFill>
                <a:latin typeface="Calibri"/>
              </a:defRPr>
            </a:pPr>
            <a:r>
              <a:t>• operations Morphology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100" b="1">
                <a:solidFill>
                  <a:srgbClr val="404040"/>
                </a:solidFill>
              </a:defRPr>
            </a:pPr>
            <a:r>
              <a:t>Mean class threshold thresholding</a:t>
            </a:r>
          </a:p>
        </p:txBody>
      </p:sp>
      <p:pic>
        <p:nvPicPr>
          <p:cNvPr id="3" name="Picture 2" descr="tmpekcybxb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989" y="3968496"/>
            <a:ext cx="1929501" cy="1143000"/>
          </a:xfrm>
          <a:prstGeom prst="rect">
            <a:avLst/>
          </a:prstGeom>
        </p:spPr>
      </p:pic>
      <p:pic>
        <p:nvPicPr>
          <p:cNvPr id="4" name="Picture 3" descr="tmpczjbtyt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9471" y="3968496"/>
            <a:ext cx="2225577" cy="1143000"/>
          </a:xfrm>
          <a:prstGeom prst="rect">
            <a:avLst/>
          </a:prstGeom>
        </p:spPr>
      </p:pic>
      <p:pic>
        <p:nvPicPr>
          <p:cNvPr id="5" name="Picture 4" descr="tmpru9ilyxq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1024" y="5202936"/>
            <a:ext cx="1481430" cy="1143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645920"/>
            <a:ext cx="8229600" cy="2139696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404040"/>
                </a:solidFill>
                <a:latin typeface="Calibri"/>
              </a:defRPr>
            </a:pPr>
            <a:r>
              <a:t>• Thresholding (Otsu Method) Th thresholding ( Otsu method) Thresholded (OTSU Method) K-means Clustering (K-mean method) Clustered (Clustering method)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300" b="1">
                <a:solidFill>
                  <a:srgbClr val="404040"/>
                </a:solidFill>
              </a:defRPr>
            </a:pPr>
            <a:r>
              <a:t>new title </a:t>
            </a:r>
          </a:p>
        </p:txBody>
      </p:sp>
      <p:pic>
        <p:nvPicPr>
          <p:cNvPr id="3" name="Picture 2" descr="tmp68mi7y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750" y="1645920"/>
            <a:ext cx="2402378" cy="2331720"/>
          </a:xfrm>
          <a:prstGeom prst="rect">
            <a:avLst/>
          </a:prstGeom>
        </p:spPr>
      </p:pic>
      <p:pic>
        <p:nvPicPr>
          <p:cNvPr id="4" name="Picture 3" descr="tmpnoqgxxf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2668" y="1645920"/>
            <a:ext cx="1844383" cy="2331720"/>
          </a:xfrm>
          <a:prstGeom prst="rect">
            <a:avLst/>
          </a:prstGeom>
        </p:spPr>
      </p:pic>
      <p:pic>
        <p:nvPicPr>
          <p:cNvPr id="5" name="Picture 4" descr="tmp7_pizrw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607" y="4069080"/>
            <a:ext cx="1880665" cy="2331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1645920"/>
            <a:ext cx="3200400" cy="475488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404040"/>
                </a:solidFill>
                <a:latin typeface="Calibri"/>
              </a:defRPr>
            </a:pPr>
            <a:r>
              <a:t>• Thresholding (Otsu Method) Thresholding  (Otsi Method)  Thresholds (O tsu method) Th thresholding ( Otsi method)   “We try every threshold t and                  compute:  ₁(t) = probability of class 1 (≤ t)”</a:t>
            </a:r>
          </a:p>
          <a:p>
            <a:pPr algn="l">
              <a:defRPr sz="1600">
                <a:solidFill>
                  <a:srgbClr val="404040"/>
                </a:solidFill>
                <a:latin typeface="Calibri"/>
              </a:defRPr>
            </a:pPr>
            <a:r>
              <a:t>• ““”” ‘ ’”: ‘‘</a:t>
            </a:r>
          </a:p>
          <a:p>
            <a:pPr algn="l">
              <a:defRPr sz="1600">
                <a:solidFill>
                  <a:srgbClr val="404040"/>
                </a:solidFill>
                <a:latin typeface="Calibri"/>
              </a:defRPr>
            </a:pPr>
            <a:r>
              <a:t>• ‘</a:t>
            </a:r>
          </a:p>
          <a:p>
            <a:pPr algn="l">
              <a:defRPr sz="1600">
                <a:solidFill>
                  <a:srgbClr val="404040"/>
                </a:solidFill>
                <a:latin typeface="Calibri"/>
              </a:defRPr>
            </a:pPr>
            <a:r>
              <a:t>• ’: “</a:t>
            </a:r>
          </a:p>
          <a:p>
            <a:pPr algn="l">
              <a:defRPr sz="1600">
                <a:solidFill>
                  <a:srgbClr val="404040"/>
                </a:solidFill>
                <a:latin typeface="Calibri"/>
              </a:defRPr>
            </a:pPr>
            <a:r>
              <a:t>• ”   : 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200" b="1">
                <a:solidFill>
                  <a:srgbClr val="404040"/>
                </a:solidFill>
              </a:defRPr>
            </a:pPr>
            <a:r>
              <a:t>Class threshold thresholding otsu</a:t>
            </a:r>
          </a:p>
        </p:txBody>
      </p:sp>
      <p:pic>
        <p:nvPicPr>
          <p:cNvPr id="3" name="Picture 2" descr="tmpc0cqr4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446" y="3968496"/>
            <a:ext cx="1500586" cy="1143000"/>
          </a:xfrm>
          <a:prstGeom prst="rect">
            <a:avLst/>
          </a:prstGeom>
        </p:spPr>
      </p:pic>
      <p:pic>
        <p:nvPicPr>
          <p:cNvPr id="4" name="Picture 3" descr="tmp3ic9mwk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9341" y="3968496"/>
            <a:ext cx="1145836" cy="1143000"/>
          </a:xfrm>
          <a:prstGeom prst="rect">
            <a:avLst/>
          </a:prstGeom>
        </p:spPr>
      </p:pic>
      <p:pic>
        <p:nvPicPr>
          <p:cNvPr id="5" name="Picture 4" descr="tmpd12ek14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8158" y="5202936"/>
            <a:ext cx="1487162" cy="1143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645920"/>
            <a:ext cx="8229600" cy="2139696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404040"/>
                </a:solidFill>
                <a:latin typeface="Calibri"/>
              </a:defRPr>
            </a:pPr>
            <a:r>
              <a:t>• Threshold t = 2 • ω₂(t) = probability of class 2 (&gt; t)  μ₁( t) = mean of class 1</a:t>
            </a:r>
          </a:p>
          <a:p>
            <a:pPr algn="l">
              <a:defRPr sz="1600">
                <a:solidFill>
                  <a:srgbClr val="404040"/>
                </a:solidFill>
                <a:latin typeface="Calibri"/>
              </a:defRPr>
            </a:pPr>
            <a:r>
              <a:t>• ω (t),  ω (t)  = probability of class 2</a:t>
            </a:r>
          </a:p>
          <a:p>
            <a:pPr algn="l">
              <a:defRPr sz="1600">
                <a:solidFill>
                  <a:srgbClr val="404040"/>
                </a:solidFill>
                <a:latin typeface="Calibri"/>
              </a:defRPr>
            </a:pPr>
            <a:r>
              <a:t>• μ ( t),   (t, t) is the number of classes in a class</a:t>
            </a:r>
          </a:p>
          <a:p>
            <a:pPr algn="l">
              <a:defRPr sz="1600">
                <a:solidFill>
                  <a:srgbClr val="404040"/>
                </a:solidFill>
                <a:latin typeface="Calibri"/>
              </a:defRPr>
            </a:pPr>
            <a:r>
              <a:t>• Thresholding (Otsu Method) K-means Clustering K-Means Cluster K- Means K- Means Clustered K- means Clusters K- Measures Clusters K-measures Clusterers K-miles Clusterer K-mean Cluster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500" b="1">
                <a:solidFill>
                  <a:srgbClr val="404040"/>
                </a:solidFill>
              </a:defRPr>
            </a:pPr>
            <a:r>
              <a:t>Foreground thresholding otsu</a:t>
            </a:r>
          </a:p>
        </p:txBody>
      </p:sp>
      <p:pic>
        <p:nvPicPr>
          <p:cNvPr id="3" name="Picture 2" descr="tmpr066n1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1618" y="3968496"/>
            <a:ext cx="980242" cy="1143000"/>
          </a:xfrm>
          <a:prstGeom prst="rect">
            <a:avLst/>
          </a:prstGeom>
        </p:spPr>
      </p:pic>
      <p:pic>
        <p:nvPicPr>
          <p:cNvPr id="4" name="Picture 3" descr="tmpiu_int5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5079" y="3968496"/>
            <a:ext cx="894360" cy="1143000"/>
          </a:xfrm>
          <a:prstGeom prst="rect">
            <a:avLst/>
          </a:prstGeom>
        </p:spPr>
      </p:pic>
      <p:pic>
        <p:nvPicPr>
          <p:cNvPr id="5" name="Picture 4" descr="tmp9f1wxuw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3925" y="5202936"/>
            <a:ext cx="2035628" cy="1143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645920"/>
            <a:ext cx="8229600" cy="2139696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404040"/>
                </a:solidFill>
                <a:latin typeface="Calibri"/>
              </a:defRPr>
            </a:pPr>
            <a:r>
              <a:t>• Thresholding (Otsu Method) Thresholding is a form of thresholding</a:t>
            </a:r>
          </a:p>
          <a:p>
            <a:pPr algn="l">
              <a:defRPr sz="1600">
                <a:solidFill>
                  <a:srgbClr val="404040"/>
                </a:solidFill>
                <a:latin typeface="Calibri"/>
              </a:defRPr>
            </a:pPr>
            <a:r>
              <a:t>• Thresholds are used to determine whether a threshold has been achieved by a threshold test</a:t>
            </a:r>
          </a:p>
          <a:p>
            <a:pPr algn="l">
              <a:defRPr sz="1600">
                <a:solidFill>
                  <a:srgbClr val="404040"/>
                </a:solidFill>
                <a:latin typeface="Calibri"/>
              </a:defRPr>
            </a:pPr>
            <a:r>
              <a:t>• The threshold test is similar to the one used in the Otsu threshold test for blood tests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400" b="1">
                <a:solidFill>
                  <a:srgbClr val="404040"/>
                </a:solidFill>
              </a:defRPr>
            </a:pPr>
            <a:r>
              <a:t>Object class thresholding otsu</a:t>
            </a:r>
          </a:p>
        </p:txBody>
      </p:sp>
      <p:pic>
        <p:nvPicPr>
          <p:cNvPr id="3" name="Picture 2" descr="tmpgttdvjz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7180" y="4919472"/>
            <a:ext cx="949118" cy="667512"/>
          </a:xfrm>
          <a:prstGeom prst="rect">
            <a:avLst/>
          </a:prstGeom>
        </p:spPr>
      </p:pic>
      <p:pic>
        <p:nvPicPr>
          <p:cNvPr id="4" name="Picture 3" descr="tmpbw892n9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019" y="4919472"/>
            <a:ext cx="1208481" cy="667512"/>
          </a:xfrm>
          <a:prstGeom prst="rect">
            <a:avLst/>
          </a:prstGeom>
        </p:spPr>
      </p:pic>
      <p:pic>
        <p:nvPicPr>
          <p:cNvPr id="5" name="Picture 4" descr="tmpj_zmwc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6591" y="5678424"/>
            <a:ext cx="610296" cy="6675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645920"/>
            <a:ext cx="8229600" cy="3090671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404040"/>
                </a:solidFill>
                <a:latin typeface="Calibri"/>
              </a:defRPr>
            </a:pPr>
            <a:r>
              <a:t>• Morphological operations Morphological operationsmorphological operations Thanks Thanks Thanks Opening and Closing opening and closing</a:t>
            </a:r>
          </a:p>
          <a:p>
            <a:pPr algn="l">
              <a:defRPr sz="1600">
                <a:solidFill>
                  <a:srgbClr val="404040"/>
                </a:solidFill>
                <a:latin typeface="Calibri"/>
              </a:defRPr>
            </a:pPr>
            <a:r>
              <a:t>• Closing and closing closing</a:t>
            </a:r>
          </a:p>
          <a:p>
            <a:pPr algn="l">
              <a:defRPr sz="1600">
                <a:solidFill>
                  <a:srgbClr val="404040"/>
                </a:solidFill>
                <a:latin typeface="Calibri"/>
              </a:defRPr>
            </a:pPr>
            <a:r>
              <a:t>• Morphological operations morphological operation morphological  operations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000" b="1">
                <a:solidFill>
                  <a:srgbClr val="404040"/>
                </a:solidFill>
              </a:defRPr>
            </a:pPr>
            <a:r>
              <a:t>Foreground thresholding otsu method</a:t>
            </a:r>
          </a:p>
        </p:txBody>
      </p:sp>
      <p:pic>
        <p:nvPicPr>
          <p:cNvPr id="3" name="Picture 2" descr="tmpifyjwvl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9952" y="1645920"/>
            <a:ext cx="3781934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645920"/>
            <a:ext cx="4572000" cy="475488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404040"/>
                </a:solidFill>
                <a:latin typeface="Calibri"/>
              </a:defRPr>
            </a:pPr>
            <a:r>
              <a:t>• Thresholding (Otsu Method) Th threshold t = 2 • ω₂(t) = probability of class 2 (&gt; t) Morphological operations Morphological Operations Morphological operations = molecular probability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